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A23452-271E-4AEA-B23F-102E0BB7188B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C611878-08C4-473A-863F-E8C807EBF46F}">
      <dgm:prSet/>
      <dgm:spPr/>
      <dgm:t>
        <a:bodyPr/>
        <a:lstStyle/>
        <a:p>
          <a:r>
            <a:rPr lang="es-MX" b="1"/>
            <a:t>Alcances</a:t>
          </a:r>
          <a:endParaRPr lang="en-US"/>
        </a:p>
      </dgm:t>
    </dgm:pt>
    <dgm:pt modelId="{3A4575CA-CA26-4516-A863-83AB60B4D517}" type="parTrans" cxnId="{1CB567FC-7227-4EAA-90E4-79CB71F38505}">
      <dgm:prSet/>
      <dgm:spPr/>
      <dgm:t>
        <a:bodyPr/>
        <a:lstStyle/>
        <a:p>
          <a:endParaRPr lang="en-US"/>
        </a:p>
      </dgm:t>
    </dgm:pt>
    <dgm:pt modelId="{688C702F-1831-4F25-81EC-502CDE2894D5}" type="sibTrans" cxnId="{1CB567FC-7227-4EAA-90E4-79CB71F38505}">
      <dgm:prSet/>
      <dgm:spPr/>
      <dgm:t>
        <a:bodyPr/>
        <a:lstStyle/>
        <a:p>
          <a:endParaRPr lang="en-US"/>
        </a:p>
      </dgm:t>
    </dgm:pt>
    <dgm:pt modelId="{D0F5CDC5-4F2F-45F4-8A6F-D6897C989F8F}">
      <dgm:prSet/>
      <dgm:spPr/>
      <dgm:t>
        <a:bodyPr/>
        <a:lstStyle/>
        <a:p>
          <a:r>
            <a:rPr lang="es-MX"/>
            <a:t>Desarrollo de un modelo predictivo basado en redes neuronales LSTM para estimar concentraciones de PM₂.₅, PM₁₀, NO₂ y O₃.</a:t>
          </a:r>
          <a:endParaRPr lang="en-US"/>
        </a:p>
      </dgm:t>
    </dgm:pt>
    <dgm:pt modelId="{6F169900-7D39-471B-9914-882D83B0B466}" type="parTrans" cxnId="{4FD38329-D390-48CC-96F3-3F56BA371F70}">
      <dgm:prSet/>
      <dgm:spPr/>
      <dgm:t>
        <a:bodyPr/>
        <a:lstStyle/>
        <a:p>
          <a:endParaRPr lang="en-US"/>
        </a:p>
      </dgm:t>
    </dgm:pt>
    <dgm:pt modelId="{C861EB90-B3B3-4D0E-98E7-D47C18A76762}" type="sibTrans" cxnId="{4FD38329-D390-48CC-96F3-3F56BA371F70}">
      <dgm:prSet/>
      <dgm:spPr/>
      <dgm:t>
        <a:bodyPr/>
        <a:lstStyle/>
        <a:p>
          <a:endParaRPr lang="en-US"/>
        </a:p>
      </dgm:t>
    </dgm:pt>
    <dgm:pt modelId="{2183879C-66A8-4A21-B638-7B83C8216C4E}">
      <dgm:prSet/>
      <dgm:spPr/>
      <dgm:t>
        <a:bodyPr/>
        <a:lstStyle/>
        <a:p>
          <a:r>
            <a:rPr lang="es-MX"/>
            <a:t>Diseño conceptual de una arquitectura IoT para recolección de datos en tiempo real.</a:t>
          </a:r>
          <a:endParaRPr lang="en-US"/>
        </a:p>
      </dgm:t>
    </dgm:pt>
    <dgm:pt modelId="{9AE9FAA3-9841-4AB5-A2FB-709B56A0E6B7}" type="parTrans" cxnId="{E41CB7E7-F622-4670-8B87-15F4D1F169B8}">
      <dgm:prSet/>
      <dgm:spPr/>
      <dgm:t>
        <a:bodyPr/>
        <a:lstStyle/>
        <a:p>
          <a:endParaRPr lang="en-US"/>
        </a:p>
      </dgm:t>
    </dgm:pt>
    <dgm:pt modelId="{41B98C7D-7756-417C-ACAC-D803312C6840}" type="sibTrans" cxnId="{E41CB7E7-F622-4670-8B87-15F4D1F169B8}">
      <dgm:prSet/>
      <dgm:spPr/>
      <dgm:t>
        <a:bodyPr/>
        <a:lstStyle/>
        <a:p>
          <a:endParaRPr lang="en-US"/>
        </a:p>
      </dgm:t>
    </dgm:pt>
    <dgm:pt modelId="{91BC0D4E-EA62-4E49-BA83-4339147B1F81}">
      <dgm:prSet/>
      <dgm:spPr/>
      <dgm:t>
        <a:bodyPr/>
        <a:lstStyle/>
        <a:p>
          <a:r>
            <a:rPr lang="es-MX"/>
            <a:t>Simulación de escenarios de mitigación mediante modelos “what-if”.</a:t>
          </a:r>
          <a:endParaRPr lang="en-US"/>
        </a:p>
      </dgm:t>
    </dgm:pt>
    <dgm:pt modelId="{1BC0AA43-929B-4E6D-98D5-12A65EB7DC8B}" type="parTrans" cxnId="{40353187-8827-4244-B7C1-939041F00961}">
      <dgm:prSet/>
      <dgm:spPr/>
      <dgm:t>
        <a:bodyPr/>
        <a:lstStyle/>
        <a:p>
          <a:endParaRPr lang="en-US"/>
        </a:p>
      </dgm:t>
    </dgm:pt>
    <dgm:pt modelId="{716DA814-F20B-4055-AB2F-CF7176802945}" type="sibTrans" cxnId="{40353187-8827-4244-B7C1-939041F00961}">
      <dgm:prSet/>
      <dgm:spPr/>
      <dgm:t>
        <a:bodyPr/>
        <a:lstStyle/>
        <a:p>
          <a:endParaRPr lang="en-US"/>
        </a:p>
      </dgm:t>
    </dgm:pt>
    <dgm:pt modelId="{42AEB776-19AC-4367-A74A-6F2BB021D07E}">
      <dgm:prSet/>
      <dgm:spPr/>
      <dgm:t>
        <a:bodyPr/>
        <a:lstStyle/>
        <a:p>
          <a:r>
            <a:rPr lang="es-MX"/>
            <a:t>Evaluación del desempeño predictivo utilizando métricas cuantitativas (MAE, RMSE y R²).</a:t>
          </a:r>
          <a:endParaRPr lang="en-US"/>
        </a:p>
      </dgm:t>
    </dgm:pt>
    <dgm:pt modelId="{3400F760-16FE-4695-B8DB-3C823DAE6B36}" type="parTrans" cxnId="{668E4C2D-AF0D-4C8D-A8C0-B2940A346B81}">
      <dgm:prSet/>
      <dgm:spPr/>
      <dgm:t>
        <a:bodyPr/>
        <a:lstStyle/>
        <a:p>
          <a:endParaRPr lang="en-US"/>
        </a:p>
      </dgm:t>
    </dgm:pt>
    <dgm:pt modelId="{4284FE9E-76BF-4E89-B165-A7C0A30B5DE4}" type="sibTrans" cxnId="{668E4C2D-AF0D-4C8D-A8C0-B2940A346B81}">
      <dgm:prSet/>
      <dgm:spPr/>
      <dgm:t>
        <a:bodyPr/>
        <a:lstStyle/>
        <a:p>
          <a:endParaRPr lang="en-US"/>
        </a:p>
      </dgm:t>
    </dgm:pt>
    <dgm:pt modelId="{066A7AD0-D5CF-4694-A856-56ED171E968D}">
      <dgm:prSet/>
      <dgm:spPr/>
      <dgm:t>
        <a:bodyPr/>
        <a:lstStyle/>
        <a:p>
          <a:r>
            <a:rPr lang="es-MX" b="1"/>
            <a:t>Limitaciones</a:t>
          </a:r>
          <a:endParaRPr lang="en-US"/>
        </a:p>
      </dgm:t>
    </dgm:pt>
    <dgm:pt modelId="{72A886F8-51F5-409E-9681-ADA60DE7DB04}" type="parTrans" cxnId="{C235BF94-487D-4B29-8D1B-9FC19F696D9F}">
      <dgm:prSet/>
      <dgm:spPr/>
      <dgm:t>
        <a:bodyPr/>
        <a:lstStyle/>
        <a:p>
          <a:endParaRPr lang="en-US"/>
        </a:p>
      </dgm:t>
    </dgm:pt>
    <dgm:pt modelId="{248138A1-D5BC-4293-A3A1-D9B60DBE6E81}" type="sibTrans" cxnId="{C235BF94-487D-4B29-8D1B-9FC19F696D9F}">
      <dgm:prSet/>
      <dgm:spPr/>
      <dgm:t>
        <a:bodyPr/>
        <a:lstStyle/>
        <a:p>
          <a:endParaRPr lang="en-US"/>
        </a:p>
      </dgm:t>
    </dgm:pt>
    <dgm:pt modelId="{E14C4A87-8EDC-478F-8077-58F55800FAF6}">
      <dgm:prSet/>
      <dgm:spPr/>
      <dgm:t>
        <a:bodyPr/>
        <a:lstStyle/>
        <a:p>
          <a:r>
            <a:rPr lang="es-MX"/>
            <a:t>No se implementará físicamente la red completa de sensores IoT.</a:t>
          </a:r>
          <a:endParaRPr lang="en-US"/>
        </a:p>
      </dgm:t>
    </dgm:pt>
    <dgm:pt modelId="{E99FA05F-09E7-4BBC-8D3F-B11088057181}" type="parTrans" cxnId="{F6157DD7-0ABC-48A4-9B27-836EA4B7D122}">
      <dgm:prSet/>
      <dgm:spPr/>
      <dgm:t>
        <a:bodyPr/>
        <a:lstStyle/>
        <a:p>
          <a:endParaRPr lang="en-US"/>
        </a:p>
      </dgm:t>
    </dgm:pt>
    <dgm:pt modelId="{FF5F18B9-9DE6-4A1C-A677-6C25C26E5DB4}" type="sibTrans" cxnId="{F6157DD7-0ABC-48A4-9B27-836EA4B7D122}">
      <dgm:prSet/>
      <dgm:spPr/>
      <dgm:t>
        <a:bodyPr/>
        <a:lstStyle/>
        <a:p>
          <a:endParaRPr lang="en-US"/>
        </a:p>
      </dgm:t>
    </dgm:pt>
    <dgm:pt modelId="{4CC56CDA-1772-4C06-8A62-85BECF2890E7}">
      <dgm:prSet/>
      <dgm:spPr/>
      <dgm:t>
        <a:bodyPr/>
        <a:lstStyle/>
        <a:p>
          <a:r>
            <a:rPr lang="es-MX"/>
            <a:t>Dependencia de la calidad y disponibilidad de datos abiertos.</a:t>
          </a:r>
          <a:endParaRPr lang="en-US"/>
        </a:p>
      </dgm:t>
    </dgm:pt>
    <dgm:pt modelId="{A36992C6-3B15-4E8F-B914-8D1CE979A3AC}" type="parTrans" cxnId="{EC3ADEC5-CC0A-462D-A161-A722363FAAB9}">
      <dgm:prSet/>
      <dgm:spPr/>
      <dgm:t>
        <a:bodyPr/>
        <a:lstStyle/>
        <a:p>
          <a:endParaRPr lang="en-US"/>
        </a:p>
      </dgm:t>
    </dgm:pt>
    <dgm:pt modelId="{6BFFDD88-32FF-4137-825F-31405AF8751E}" type="sibTrans" cxnId="{EC3ADEC5-CC0A-462D-A161-A722363FAAB9}">
      <dgm:prSet/>
      <dgm:spPr/>
      <dgm:t>
        <a:bodyPr/>
        <a:lstStyle/>
        <a:p>
          <a:endParaRPr lang="en-US"/>
        </a:p>
      </dgm:t>
    </dgm:pt>
    <dgm:pt modelId="{58DCC9CB-C484-4090-99A9-902F030D698C}">
      <dgm:prSet/>
      <dgm:spPr/>
      <dgm:t>
        <a:bodyPr/>
        <a:lstStyle/>
        <a:p>
          <a:r>
            <a:rPr lang="es-MX"/>
            <a:t>No se realizarán pruebas clínicas directas.</a:t>
          </a:r>
          <a:endParaRPr lang="en-US"/>
        </a:p>
      </dgm:t>
    </dgm:pt>
    <dgm:pt modelId="{472E7D93-E821-4092-8682-447FD8E36716}" type="parTrans" cxnId="{FA9B0654-713A-4C1B-B0CA-D5080910C636}">
      <dgm:prSet/>
      <dgm:spPr/>
      <dgm:t>
        <a:bodyPr/>
        <a:lstStyle/>
        <a:p>
          <a:endParaRPr lang="en-US"/>
        </a:p>
      </dgm:t>
    </dgm:pt>
    <dgm:pt modelId="{6E6A0701-E9A8-4A57-8565-BE59CEC075FD}" type="sibTrans" cxnId="{FA9B0654-713A-4C1B-B0CA-D5080910C636}">
      <dgm:prSet/>
      <dgm:spPr/>
      <dgm:t>
        <a:bodyPr/>
        <a:lstStyle/>
        <a:p>
          <a:endParaRPr lang="en-US"/>
        </a:p>
      </dgm:t>
    </dgm:pt>
    <dgm:pt modelId="{CC0B3D0B-CF14-4241-8085-225113D4AF26}">
      <dgm:prSet/>
      <dgm:spPr/>
      <dgm:t>
        <a:bodyPr/>
        <a:lstStyle/>
        <a:p>
          <a:r>
            <a:rPr lang="es-MX"/>
            <a:t>La simulación será teórica y no implicará intervención real.</a:t>
          </a:r>
          <a:endParaRPr lang="en-US"/>
        </a:p>
      </dgm:t>
    </dgm:pt>
    <dgm:pt modelId="{24361F90-18AE-47D3-8169-EA83C8A666F9}" type="parTrans" cxnId="{ADF5709B-395A-48F0-9375-F7880F243E64}">
      <dgm:prSet/>
      <dgm:spPr/>
      <dgm:t>
        <a:bodyPr/>
        <a:lstStyle/>
        <a:p>
          <a:endParaRPr lang="en-US"/>
        </a:p>
      </dgm:t>
    </dgm:pt>
    <dgm:pt modelId="{C2A47478-AB39-4DF9-A837-1F266F1B41A3}" type="sibTrans" cxnId="{ADF5709B-395A-48F0-9375-F7880F243E64}">
      <dgm:prSet/>
      <dgm:spPr/>
      <dgm:t>
        <a:bodyPr/>
        <a:lstStyle/>
        <a:p>
          <a:endParaRPr lang="en-US"/>
        </a:p>
      </dgm:t>
    </dgm:pt>
    <dgm:pt modelId="{9ED26497-D4DF-4BA2-A324-4AD631706D70}" type="pres">
      <dgm:prSet presAssocID="{BBA23452-271E-4AEA-B23F-102E0BB7188B}" presName="Name0" presStyleCnt="0">
        <dgm:presLayoutVars>
          <dgm:dir/>
          <dgm:animLvl val="lvl"/>
          <dgm:resizeHandles val="exact"/>
        </dgm:presLayoutVars>
      </dgm:prSet>
      <dgm:spPr/>
    </dgm:pt>
    <dgm:pt modelId="{F395B4AE-2B11-4CDF-8F19-6FAE04706CD4}" type="pres">
      <dgm:prSet presAssocID="{066A7AD0-D5CF-4694-A856-56ED171E968D}" presName="composite" presStyleCnt="0"/>
      <dgm:spPr/>
    </dgm:pt>
    <dgm:pt modelId="{191B3404-99B0-464F-8241-90515E75216E}" type="pres">
      <dgm:prSet presAssocID="{066A7AD0-D5CF-4694-A856-56ED171E968D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42A001E2-F728-4DDA-81AC-318B419B506D}" type="pres">
      <dgm:prSet presAssocID="{066A7AD0-D5CF-4694-A856-56ED171E968D}" presName="desTx" presStyleLbl="alignAccFollowNode1" presStyleIdx="0" presStyleCnt="2">
        <dgm:presLayoutVars>
          <dgm:bulletEnabled val="1"/>
        </dgm:presLayoutVars>
      </dgm:prSet>
      <dgm:spPr/>
    </dgm:pt>
    <dgm:pt modelId="{15ED89AB-37AD-4B25-B998-4622C56A782D}" type="pres">
      <dgm:prSet presAssocID="{248138A1-D5BC-4293-A3A1-D9B60DBE6E81}" presName="space" presStyleCnt="0"/>
      <dgm:spPr/>
    </dgm:pt>
    <dgm:pt modelId="{8CDF1E1B-1FF8-40A7-8610-41980FC26852}" type="pres">
      <dgm:prSet presAssocID="{7C611878-08C4-473A-863F-E8C807EBF46F}" presName="composite" presStyleCnt="0"/>
      <dgm:spPr/>
    </dgm:pt>
    <dgm:pt modelId="{118B9458-D52B-49EC-BB77-117F1C96B3E6}" type="pres">
      <dgm:prSet presAssocID="{7C611878-08C4-473A-863F-E8C807EBF46F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83CD7868-1E16-41EB-A1B8-F8DA62C4818A}" type="pres">
      <dgm:prSet presAssocID="{7C611878-08C4-473A-863F-E8C807EBF46F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3460A701-4022-4199-996D-048A0AD74E24}" type="presOf" srcId="{4CC56CDA-1772-4C06-8A62-85BECF2890E7}" destId="{42A001E2-F728-4DDA-81AC-318B419B506D}" srcOrd="0" destOrd="1" presId="urn:microsoft.com/office/officeart/2005/8/layout/hList1"/>
    <dgm:cxn modelId="{2F187E03-FFC5-4B90-841E-EA0C67636AD4}" type="presOf" srcId="{2183879C-66A8-4A21-B638-7B83C8216C4E}" destId="{83CD7868-1E16-41EB-A1B8-F8DA62C4818A}" srcOrd="0" destOrd="1" presId="urn:microsoft.com/office/officeart/2005/8/layout/hList1"/>
    <dgm:cxn modelId="{4FD38329-D390-48CC-96F3-3F56BA371F70}" srcId="{7C611878-08C4-473A-863F-E8C807EBF46F}" destId="{D0F5CDC5-4F2F-45F4-8A6F-D6897C989F8F}" srcOrd="0" destOrd="0" parTransId="{6F169900-7D39-471B-9914-882D83B0B466}" sibTransId="{C861EB90-B3B3-4D0E-98E7-D47C18A76762}"/>
    <dgm:cxn modelId="{668E4C2D-AF0D-4C8D-A8C0-B2940A346B81}" srcId="{7C611878-08C4-473A-863F-E8C807EBF46F}" destId="{42AEB776-19AC-4367-A74A-6F2BB021D07E}" srcOrd="3" destOrd="0" parTransId="{3400F760-16FE-4695-B8DB-3C823DAE6B36}" sibTransId="{4284FE9E-76BF-4E89-B165-A7C0A30B5DE4}"/>
    <dgm:cxn modelId="{BC7FF32F-60C9-4BF1-A974-6CA4F99C067A}" type="presOf" srcId="{42AEB776-19AC-4367-A74A-6F2BB021D07E}" destId="{83CD7868-1E16-41EB-A1B8-F8DA62C4818A}" srcOrd="0" destOrd="3" presId="urn:microsoft.com/office/officeart/2005/8/layout/hList1"/>
    <dgm:cxn modelId="{340D8641-A109-4FA3-A3B6-77C917EDC73A}" type="presOf" srcId="{CC0B3D0B-CF14-4241-8085-225113D4AF26}" destId="{42A001E2-F728-4DDA-81AC-318B419B506D}" srcOrd="0" destOrd="3" presId="urn:microsoft.com/office/officeart/2005/8/layout/hList1"/>
    <dgm:cxn modelId="{4802F463-4907-430E-B624-092F6D858059}" type="presOf" srcId="{D0F5CDC5-4F2F-45F4-8A6F-D6897C989F8F}" destId="{83CD7868-1E16-41EB-A1B8-F8DA62C4818A}" srcOrd="0" destOrd="0" presId="urn:microsoft.com/office/officeart/2005/8/layout/hList1"/>
    <dgm:cxn modelId="{CC171A46-E442-4461-9A7C-A168CC8A306C}" type="presOf" srcId="{BBA23452-271E-4AEA-B23F-102E0BB7188B}" destId="{9ED26497-D4DF-4BA2-A324-4AD631706D70}" srcOrd="0" destOrd="0" presId="urn:microsoft.com/office/officeart/2005/8/layout/hList1"/>
    <dgm:cxn modelId="{FA9B0654-713A-4C1B-B0CA-D5080910C636}" srcId="{066A7AD0-D5CF-4694-A856-56ED171E968D}" destId="{58DCC9CB-C484-4090-99A9-902F030D698C}" srcOrd="2" destOrd="0" parTransId="{472E7D93-E821-4092-8682-447FD8E36716}" sibTransId="{6E6A0701-E9A8-4A57-8565-BE59CEC075FD}"/>
    <dgm:cxn modelId="{B7702783-5AFB-454C-BCC4-3C457648B077}" type="presOf" srcId="{7C611878-08C4-473A-863F-E8C807EBF46F}" destId="{118B9458-D52B-49EC-BB77-117F1C96B3E6}" srcOrd="0" destOrd="0" presId="urn:microsoft.com/office/officeart/2005/8/layout/hList1"/>
    <dgm:cxn modelId="{40353187-8827-4244-B7C1-939041F00961}" srcId="{7C611878-08C4-473A-863F-E8C807EBF46F}" destId="{91BC0D4E-EA62-4E49-BA83-4339147B1F81}" srcOrd="2" destOrd="0" parTransId="{1BC0AA43-929B-4E6D-98D5-12A65EB7DC8B}" sibTransId="{716DA814-F20B-4055-AB2F-CF7176802945}"/>
    <dgm:cxn modelId="{0CA4C38D-CD0C-4111-A1D2-C3634247C46E}" type="presOf" srcId="{58DCC9CB-C484-4090-99A9-902F030D698C}" destId="{42A001E2-F728-4DDA-81AC-318B419B506D}" srcOrd="0" destOrd="2" presId="urn:microsoft.com/office/officeart/2005/8/layout/hList1"/>
    <dgm:cxn modelId="{C235BF94-487D-4B29-8D1B-9FC19F696D9F}" srcId="{BBA23452-271E-4AEA-B23F-102E0BB7188B}" destId="{066A7AD0-D5CF-4694-A856-56ED171E968D}" srcOrd="0" destOrd="0" parTransId="{72A886F8-51F5-409E-9681-ADA60DE7DB04}" sibTransId="{248138A1-D5BC-4293-A3A1-D9B60DBE6E81}"/>
    <dgm:cxn modelId="{ADF5709B-395A-48F0-9375-F7880F243E64}" srcId="{066A7AD0-D5CF-4694-A856-56ED171E968D}" destId="{CC0B3D0B-CF14-4241-8085-225113D4AF26}" srcOrd="3" destOrd="0" parTransId="{24361F90-18AE-47D3-8169-EA83C8A666F9}" sibTransId="{C2A47478-AB39-4DF9-A837-1F266F1B41A3}"/>
    <dgm:cxn modelId="{32210EA9-A80D-4BF8-9B02-534AD0832DF1}" type="presOf" srcId="{91BC0D4E-EA62-4E49-BA83-4339147B1F81}" destId="{83CD7868-1E16-41EB-A1B8-F8DA62C4818A}" srcOrd="0" destOrd="2" presId="urn:microsoft.com/office/officeart/2005/8/layout/hList1"/>
    <dgm:cxn modelId="{B9DDC9AA-957A-4766-A5B0-B19BD13FD51F}" type="presOf" srcId="{E14C4A87-8EDC-478F-8077-58F55800FAF6}" destId="{42A001E2-F728-4DDA-81AC-318B419B506D}" srcOrd="0" destOrd="0" presId="urn:microsoft.com/office/officeart/2005/8/layout/hList1"/>
    <dgm:cxn modelId="{EC3ADEC5-CC0A-462D-A161-A722363FAAB9}" srcId="{066A7AD0-D5CF-4694-A856-56ED171E968D}" destId="{4CC56CDA-1772-4C06-8A62-85BECF2890E7}" srcOrd="1" destOrd="0" parTransId="{A36992C6-3B15-4E8F-B914-8D1CE979A3AC}" sibTransId="{6BFFDD88-32FF-4137-825F-31405AF8751E}"/>
    <dgm:cxn modelId="{F6157DD7-0ABC-48A4-9B27-836EA4B7D122}" srcId="{066A7AD0-D5CF-4694-A856-56ED171E968D}" destId="{E14C4A87-8EDC-478F-8077-58F55800FAF6}" srcOrd="0" destOrd="0" parTransId="{E99FA05F-09E7-4BBC-8D3F-B11088057181}" sibTransId="{FF5F18B9-9DE6-4A1C-A677-6C25C26E5DB4}"/>
    <dgm:cxn modelId="{E41CB7E7-F622-4670-8B87-15F4D1F169B8}" srcId="{7C611878-08C4-473A-863F-E8C807EBF46F}" destId="{2183879C-66A8-4A21-B638-7B83C8216C4E}" srcOrd="1" destOrd="0" parTransId="{9AE9FAA3-9841-4AB5-A2FB-709B56A0E6B7}" sibTransId="{41B98C7D-7756-417C-ACAC-D803312C6840}"/>
    <dgm:cxn modelId="{0B4807F4-5FA0-46F1-A61C-1C0F2DC73C4C}" type="presOf" srcId="{066A7AD0-D5CF-4694-A856-56ED171E968D}" destId="{191B3404-99B0-464F-8241-90515E75216E}" srcOrd="0" destOrd="0" presId="urn:microsoft.com/office/officeart/2005/8/layout/hList1"/>
    <dgm:cxn modelId="{1CB567FC-7227-4EAA-90E4-79CB71F38505}" srcId="{BBA23452-271E-4AEA-B23F-102E0BB7188B}" destId="{7C611878-08C4-473A-863F-E8C807EBF46F}" srcOrd="1" destOrd="0" parTransId="{3A4575CA-CA26-4516-A863-83AB60B4D517}" sibTransId="{688C702F-1831-4F25-81EC-502CDE2894D5}"/>
    <dgm:cxn modelId="{1B2023A1-771D-4518-A547-FED8208AC7F2}" type="presParOf" srcId="{9ED26497-D4DF-4BA2-A324-4AD631706D70}" destId="{F395B4AE-2B11-4CDF-8F19-6FAE04706CD4}" srcOrd="0" destOrd="0" presId="urn:microsoft.com/office/officeart/2005/8/layout/hList1"/>
    <dgm:cxn modelId="{151F6308-DBBE-4A8C-877E-6F53A5D53A0E}" type="presParOf" srcId="{F395B4AE-2B11-4CDF-8F19-6FAE04706CD4}" destId="{191B3404-99B0-464F-8241-90515E75216E}" srcOrd="0" destOrd="0" presId="urn:microsoft.com/office/officeart/2005/8/layout/hList1"/>
    <dgm:cxn modelId="{9BFFCA5F-490B-4293-9C6B-F0FC1FC956EA}" type="presParOf" srcId="{F395B4AE-2B11-4CDF-8F19-6FAE04706CD4}" destId="{42A001E2-F728-4DDA-81AC-318B419B506D}" srcOrd="1" destOrd="0" presId="urn:microsoft.com/office/officeart/2005/8/layout/hList1"/>
    <dgm:cxn modelId="{851A1667-FFB1-42A5-A679-B48B3E7329DA}" type="presParOf" srcId="{9ED26497-D4DF-4BA2-A324-4AD631706D70}" destId="{15ED89AB-37AD-4B25-B998-4622C56A782D}" srcOrd="1" destOrd="0" presId="urn:microsoft.com/office/officeart/2005/8/layout/hList1"/>
    <dgm:cxn modelId="{2C7773E1-453C-4452-990F-89D7713FFAC6}" type="presParOf" srcId="{9ED26497-D4DF-4BA2-A324-4AD631706D70}" destId="{8CDF1E1B-1FF8-40A7-8610-41980FC26852}" srcOrd="2" destOrd="0" presId="urn:microsoft.com/office/officeart/2005/8/layout/hList1"/>
    <dgm:cxn modelId="{E0333990-D3AC-4DFB-8FF1-D2B9548299A8}" type="presParOf" srcId="{8CDF1E1B-1FF8-40A7-8610-41980FC26852}" destId="{118B9458-D52B-49EC-BB77-117F1C96B3E6}" srcOrd="0" destOrd="0" presId="urn:microsoft.com/office/officeart/2005/8/layout/hList1"/>
    <dgm:cxn modelId="{17707144-165B-4241-BC59-2A34CD6CE274}" type="presParOf" srcId="{8CDF1E1B-1FF8-40A7-8610-41980FC26852}" destId="{83CD7868-1E16-41EB-A1B8-F8DA62C4818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1B3404-99B0-464F-8241-90515E75216E}">
      <dsp:nvSpPr>
        <dsp:cNvPr id="0" name=""/>
        <dsp:cNvSpPr/>
      </dsp:nvSpPr>
      <dsp:spPr>
        <a:xfrm>
          <a:off x="50" y="71686"/>
          <a:ext cx="4829555" cy="5184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/>
            <a:t>Limitaciones</a:t>
          </a:r>
          <a:endParaRPr lang="en-US" sz="1800" kern="1200"/>
        </a:p>
      </dsp:txBody>
      <dsp:txXfrm>
        <a:off x="50" y="71686"/>
        <a:ext cx="4829555" cy="518400"/>
      </dsp:txXfrm>
    </dsp:sp>
    <dsp:sp modelId="{42A001E2-F728-4DDA-81AC-318B419B506D}">
      <dsp:nvSpPr>
        <dsp:cNvPr id="0" name=""/>
        <dsp:cNvSpPr/>
      </dsp:nvSpPr>
      <dsp:spPr>
        <a:xfrm>
          <a:off x="50" y="590086"/>
          <a:ext cx="4829555" cy="340465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/>
            <a:t>No se implementará físicamente la red completa de sensores IoT.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/>
            <a:t>Dependencia de la calidad y disponibilidad de datos abiertos.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/>
            <a:t>No se realizarán pruebas clínicas directas.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/>
            <a:t>La simulación será teórica y no implicará intervención real.</a:t>
          </a:r>
          <a:endParaRPr lang="en-US" sz="1800" kern="1200"/>
        </a:p>
      </dsp:txBody>
      <dsp:txXfrm>
        <a:off x="50" y="590086"/>
        <a:ext cx="4829555" cy="3404657"/>
      </dsp:txXfrm>
    </dsp:sp>
    <dsp:sp modelId="{118B9458-D52B-49EC-BB77-117F1C96B3E6}">
      <dsp:nvSpPr>
        <dsp:cNvPr id="0" name=""/>
        <dsp:cNvSpPr/>
      </dsp:nvSpPr>
      <dsp:spPr>
        <a:xfrm>
          <a:off x="5505743" y="71686"/>
          <a:ext cx="4829555" cy="518400"/>
        </a:xfrm>
        <a:prstGeom prst="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accent5">
              <a:hueOff val="9114327"/>
              <a:satOff val="-4104"/>
              <a:lumOff val="-50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/>
            <a:t>Alcances</a:t>
          </a:r>
          <a:endParaRPr lang="en-US" sz="1800" kern="1200"/>
        </a:p>
      </dsp:txBody>
      <dsp:txXfrm>
        <a:off x="5505743" y="71686"/>
        <a:ext cx="4829555" cy="518400"/>
      </dsp:txXfrm>
    </dsp:sp>
    <dsp:sp modelId="{83CD7868-1E16-41EB-A1B8-F8DA62C4818A}">
      <dsp:nvSpPr>
        <dsp:cNvPr id="0" name=""/>
        <dsp:cNvSpPr/>
      </dsp:nvSpPr>
      <dsp:spPr>
        <a:xfrm>
          <a:off x="5505743" y="590086"/>
          <a:ext cx="4829555" cy="3404657"/>
        </a:xfrm>
        <a:prstGeom prst="rect">
          <a:avLst/>
        </a:prstGeom>
        <a:solidFill>
          <a:schemeClr val="accent5">
            <a:tint val="40000"/>
            <a:alpha val="90000"/>
            <a:hueOff val="8905181"/>
            <a:satOff val="-8244"/>
            <a:lumOff val="-118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8905181"/>
              <a:satOff val="-8244"/>
              <a:lumOff val="-11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/>
            <a:t>Desarrollo de un modelo predictivo basado en redes neuronales LSTM para estimar concentraciones de PM₂.₅, PM₁₀, NO₂ y O₃.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/>
            <a:t>Diseño conceptual de una arquitectura IoT para recolección de datos en tiempo real.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/>
            <a:t>Simulación de escenarios de mitigación mediante modelos “what-if”.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/>
            <a:t>Evaluación del desempeño predictivo utilizando métricas cuantitativas (MAE, RMSE y R²).</a:t>
          </a:r>
          <a:endParaRPr lang="en-US" sz="1800" kern="1200"/>
        </a:p>
      </dsp:txBody>
      <dsp:txXfrm>
        <a:off x="5505743" y="590086"/>
        <a:ext cx="4829555" cy="34046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FF472B-FF61-4B0F-83DB-026E462D26C1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F3C271-FD6A-4320-A5A8-079F8F53248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2323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3C271-FD6A-4320-A5A8-079F8F532487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3089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3C271-FD6A-4320-A5A8-079F8F532487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138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90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987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15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21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485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119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789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160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04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117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6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2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1BA7680-B1FB-4B6B-2155-45DD5D6C4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Planta con hojas verdes&#10;&#10;El contenido generado por IA puede ser incorrecto.">
            <a:extLst>
              <a:ext uri="{FF2B5EF4-FFF2-40B4-BE49-F238E27FC236}">
                <a16:creationId xmlns:a16="http://schemas.microsoft.com/office/drawing/2014/main" id="{AC6FEB67-C162-DE0D-9A8B-57897FC47E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948" r="9091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32383"/>
            <a:ext cx="12192000" cy="452561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F37CDE-803A-60D0-DED6-2EAC5C00A2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506" y="3991500"/>
            <a:ext cx="8837546" cy="1870483"/>
          </a:xfrm>
        </p:spPr>
        <p:txBody>
          <a:bodyPr>
            <a:normAutofit/>
          </a:bodyPr>
          <a:lstStyle/>
          <a:p>
            <a:pPr algn="l"/>
            <a:r>
              <a:rPr lang="es-MX" sz="2400" dirty="0">
                <a:solidFill>
                  <a:srgbClr val="FFFFFF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rPr>
              <a:t>Desarrollo de un sistema inteligente basado en </a:t>
            </a:r>
            <a:r>
              <a:rPr lang="es-MX" sz="2400" dirty="0" err="1">
                <a:solidFill>
                  <a:srgbClr val="FFFFFF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rPr>
              <a:t>IoT</a:t>
            </a:r>
            <a:r>
              <a:rPr lang="es-MX" sz="2400" dirty="0">
                <a:solidFill>
                  <a:srgbClr val="FFFFFF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rPr>
              <a:t> y Redes Neuronales para la Predicción y Simulación de la Calidad del Aire en Culiacán, Sinaloa.</a:t>
            </a:r>
            <a:br>
              <a:rPr lang="es-MX" sz="2400" dirty="0">
                <a:solidFill>
                  <a:srgbClr val="FFFFFF"/>
                </a:solidFill>
              </a:rPr>
            </a:br>
            <a:endParaRPr lang="es-MX" sz="2400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FE3692-0533-A9D2-BB64-ED34DF23C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506" y="5917399"/>
            <a:ext cx="8837546" cy="644789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</a:pPr>
            <a:r>
              <a:rPr lang="es-MX" sz="1300" dirty="0">
                <a:solidFill>
                  <a:srgbClr val="FFFFFF"/>
                </a:solidFill>
              </a:rPr>
              <a:t>Lara Beltrán Jorge Alberto, Pacheco Pérez Diego</a:t>
            </a:r>
          </a:p>
        </p:txBody>
      </p:sp>
    </p:spTree>
    <p:extLst>
      <p:ext uri="{BB962C8B-B14F-4D97-AF65-F5344CB8AC3E}">
        <p14:creationId xmlns:p14="http://schemas.microsoft.com/office/powerpoint/2010/main" val="4189375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F9508FC-FE08-CE9C-AE7C-D9A5D0BBB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800"/>
              <a:t>La </a:t>
            </a:r>
            <a:r>
              <a:rPr lang="es-MX" sz="1800" b="1"/>
              <a:t>Organización Mundial de la Salud </a:t>
            </a:r>
            <a:r>
              <a:rPr lang="es-MX" sz="1800"/>
              <a:t>declaró en </a:t>
            </a:r>
            <a:r>
              <a:rPr lang="es-MX" sz="1800" b="1"/>
              <a:t>2024</a:t>
            </a:r>
            <a:r>
              <a:rPr lang="es-MX" sz="1800"/>
              <a:t> que</a:t>
            </a:r>
            <a:r>
              <a:rPr lang="es-ES" sz="1800"/>
              <a:t> los efectos combinados de la contaminación del aire ambiente y la del aire doméstico se asocian a </a:t>
            </a:r>
            <a:r>
              <a:rPr lang="es-ES" sz="1800" b="1"/>
              <a:t>6,7 millones </a:t>
            </a:r>
            <a:r>
              <a:rPr lang="es-ES" sz="1800"/>
              <a:t>de muertes prematuras cada año</a:t>
            </a:r>
          </a:p>
          <a:p>
            <a:pPr marL="0" indent="0">
              <a:buNone/>
            </a:pPr>
            <a:endParaRPr lang="es-ES" sz="1800"/>
          </a:p>
          <a:p>
            <a:pPr marL="0" indent="0">
              <a:buNone/>
            </a:pPr>
            <a:r>
              <a:rPr lang="es-ES" sz="1800"/>
              <a:t>La </a:t>
            </a:r>
            <a:r>
              <a:rPr lang="es-ES" sz="1800" b="1"/>
              <a:t>Secretaría de Medio Ambiente (SEDEMA)</a:t>
            </a:r>
            <a:r>
              <a:rPr lang="es-ES" sz="1800"/>
              <a:t> en septiembre de 2024 estimó que la contaminación en México provoca aproximadamente </a:t>
            </a:r>
            <a:r>
              <a:rPr lang="es-ES" sz="1800" b="1"/>
              <a:t>48,000 muertes anuales</a:t>
            </a:r>
            <a:r>
              <a:rPr lang="es-ES" sz="1800"/>
              <a:t> debido a enfermedades relacionadas con daños ambientales</a:t>
            </a:r>
            <a:endParaRPr lang="es-MX" sz="1800"/>
          </a:p>
        </p:txBody>
      </p:sp>
      <p:pic>
        <p:nvPicPr>
          <p:cNvPr id="7" name="Picture 6" descr="Vista de la Tierra desde el espacio">
            <a:extLst>
              <a:ext uri="{FF2B5EF4-FFF2-40B4-BE49-F238E27FC236}">
                <a16:creationId xmlns:a16="http://schemas.microsoft.com/office/drawing/2014/main" id="{A2E0D2EC-BCAC-190E-E6D9-337419D6F3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283" r="28497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33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5">
            <a:extLst>
              <a:ext uri="{FF2B5EF4-FFF2-40B4-BE49-F238E27FC236}">
                <a16:creationId xmlns:a16="http://schemas.microsoft.com/office/drawing/2014/main" id="{CD59064A-7BD3-673D-2606-9507EFB48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 descr="Mapa&#10;&#10;El contenido generado por IA puede ser incorrecto.">
            <a:extLst>
              <a:ext uri="{FF2B5EF4-FFF2-40B4-BE49-F238E27FC236}">
                <a16:creationId xmlns:a16="http://schemas.microsoft.com/office/drawing/2014/main" id="{91B2A221-9F54-87A9-C364-7C8F035200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02" r="-1" b="-1"/>
          <a:stretch>
            <a:fillRect/>
          </a:stretch>
        </p:blipFill>
        <p:spPr>
          <a:xfrm>
            <a:off x="459396" y="674740"/>
            <a:ext cx="7129183" cy="4663886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AF12FC-8D9B-C290-621C-B4506DED7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7975" y="418916"/>
            <a:ext cx="3434399" cy="60339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MX" sz="1800" dirty="0"/>
          </a:p>
          <a:p>
            <a:pPr marL="0" indent="0" algn="ctr">
              <a:buNone/>
            </a:pPr>
            <a:r>
              <a:rPr lang="es-MX" sz="1800" dirty="0"/>
              <a:t>Históricamente, el monitoreo de la calidad del aire dependía de estaciones gubernamentales fijas, costosas y escasas, que ofrecían datos generales, pero con limitada resolución espacial. </a:t>
            </a:r>
          </a:p>
          <a:p>
            <a:pPr marL="0" indent="0" algn="ctr">
              <a:buNone/>
            </a:pPr>
            <a:r>
              <a:rPr lang="es-MX" sz="1800" dirty="0"/>
              <a:t>En México, la contaminación atmosférica representa uno de los principales riesgos ambientales para la salud pública.</a:t>
            </a:r>
          </a:p>
          <a:p>
            <a:pPr marL="0" indent="0">
              <a:buNone/>
            </a:pPr>
            <a:endParaRPr lang="es-MX" sz="1800" dirty="0"/>
          </a:p>
        </p:txBody>
      </p:sp>
    </p:spTree>
    <p:extLst>
      <p:ext uri="{BB962C8B-B14F-4D97-AF65-F5344CB8AC3E}">
        <p14:creationId xmlns:p14="http://schemas.microsoft.com/office/powerpoint/2010/main" val="3194191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04B8143-3907-5396-F19C-4EDBFE8DE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366850B-B0B9-4BDB-C055-B8BDCFC79DA9}"/>
              </a:ext>
            </a:extLst>
          </p:cNvPr>
          <p:cNvSpPr txBox="1"/>
          <p:nvPr/>
        </p:nvSpPr>
        <p:spPr>
          <a:xfrm>
            <a:off x="612648" y="603504"/>
            <a:ext cx="11019513" cy="152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Principales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programas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sistemas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análisis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del </a:t>
            </a:r>
            <a:r>
              <a:rPr 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aire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México 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297DE0-5808-91A1-86E1-6C9DDE55C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11019514" cy="4096512"/>
          </a:xfrm>
        </p:spPr>
        <p:txBody>
          <a:bodyPr vert="horz" lIns="91440" tIns="45720" rIns="91440" bIns="45720" rtlCol="0">
            <a:normAutofit/>
          </a:bodyPr>
          <a:lstStyle/>
          <a:p>
            <a:pPr marL="685800" indent="-457200">
              <a:buFont typeface="+mj-lt"/>
              <a:buAutoNum type="arabicPeriod"/>
            </a:pPr>
            <a:r>
              <a:rPr lang="en-US" dirty="0"/>
              <a:t>Sistema Nacional de </a:t>
            </a:r>
            <a:r>
              <a:rPr lang="en-US" dirty="0" err="1"/>
              <a:t>Información</a:t>
            </a:r>
            <a:r>
              <a:rPr lang="en-US" dirty="0"/>
              <a:t> de la Calidad del Aire (SINAICA) </a:t>
            </a:r>
          </a:p>
          <a:p>
            <a:pPr lvl="2"/>
            <a:r>
              <a:rPr lang="en-US" dirty="0"/>
              <a:t>Es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programa</a:t>
            </a:r>
            <a:r>
              <a:rPr lang="en-US" dirty="0"/>
              <a:t> central </a:t>
            </a:r>
            <a:r>
              <a:rPr lang="en-US" dirty="0" err="1"/>
              <a:t>operado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Instituto Nacional de </a:t>
            </a:r>
            <a:r>
              <a:rPr lang="en-US" dirty="0" err="1"/>
              <a:t>Ecología</a:t>
            </a:r>
            <a:r>
              <a:rPr lang="en-US" dirty="0"/>
              <a:t> y Cambio </a:t>
            </a:r>
            <a:r>
              <a:rPr lang="en-US" dirty="0" err="1"/>
              <a:t>Climático</a:t>
            </a:r>
            <a:r>
              <a:rPr lang="en-US" dirty="0"/>
              <a:t> (INECC). </a:t>
            </a:r>
          </a:p>
          <a:p>
            <a:pPr marL="685800" indent="-457200">
              <a:buFont typeface="+mj-lt"/>
              <a:buAutoNum type="arabicPeriod"/>
            </a:pPr>
            <a:r>
              <a:rPr lang="en-US" dirty="0"/>
              <a:t>Redes de </a:t>
            </a:r>
            <a:r>
              <a:rPr lang="en-US" dirty="0" err="1"/>
              <a:t>Monitoreo</a:t>
            </a:r>
            <a:r>
              <a:rPr lang="en-US" dirty="0"/>
              <a:t> </a:t>
            </a:r>
            <a:r>
              <a:rPr lang="en-US" dirty="0" err="1"/>
              <a:t>Estatales</a:t>
            </a:r>
            <a:r>
              <a:rPr lang="en-US" dirty="0"/>
              <a:t> (</a:t>
            </a:r>
            <a:r>
              <a:rPr lang="en-US" dirty="0" err="1"/>
              <a:t>Equivalentes</a:t>
            </a:r>
            <a:r>
              <a:rPr lang="en-US" dirty="0"/>
              <a:t> al SIMAT de CDMX)</a:t>
            </a:r>
          </a:p>
          <a:p>
            <a:pPr lvl="2"/>
            <a:r>
              <a:rPr lang="en-US" dirty="0"/>
              <a:t>Monterrey (Nuevo León): </a:t>
            </a:r>
            <a:r>
              <a:rPr lang="en-US" dirty="0" err="1"/>
              <a:t>Utiliza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Sistema Integral de </a:t>
            </a:r>
            <a:r>
              <a:rPr lang="en-US" dirty="0" err="1"/>
              <a:t>Monitoreo</a:t>
            </a:r>
            <a:r>
              <a:rPr lang="en-US" dirty="0"/>
              <a:t> Ambiental (SIMA),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vigila</a:t>
            </a:r>
            <a:r>
              <a:rPr lang="en-US" dirty="0"/>
              <a:t> la </a:t>
            </a:r>
            <a:r>
              <a:rPr lang="en-US" dirty="0" err="1"/>
              <a:t>calidad</a:t>
            </a:r>
            <a:r>
              <a:rPr lang="en-US" dirty="0"/>
              <a:t> del </a:t>
            </a:r>
            <a:r>
              <a:rPr lang="en-US" dirty="0" err="1"/>
              <a:t>aire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zona </a:t>
            </a:r>
            <a:r>
              <a:rPr lang="en-US" dirty="0" err="1"/>
              <a:t>metropolitana</a:t>
            </a:r>
            <a:r>
              <a:rPr lang="en-US" dirty="0"/>
              <a:t> y genera </a:t>
            </a:r>
            <a:r>
              <a:rPr lang="en-US" dirty="0" err="1"/>
              <a:t>reportes</a:t>
            </a:r>
            <a:r>
              <a:rPr lang="en-US" dirty="0"/>
              <a:t> </a:t>
            </a:r>
            <a:r>
              <a:rPr lang="en-US" dirty="0" err="1"/>
              <a:t>diarios</a:t>
            </a:r>
            <a:r>
              <a:rPr lang="en-US" dirty="0"/>
              <a:t>. </a:t>
            </a:r>
          </a:p>
          <a:p>
            <a:pPr lvl="2"/>
            <a:r>
              <a:rPr lang="en-US" dirty="0"/>
              <a:t>Guadalajara (Jalisco): Opera </a:t>
            </a:r>
            <a:r>
              <a:rPr lang="en-US" dirty="0" err="1"/>
              <a:t>el</a:t>
            </a:r>
            <a:r>
              <a:rPr lang="en-US" dirty="0"/>
              <a:t> Sistema de </a:t>
            </a:r>
            <a:r>
              <a:rPr lang="en-US" dirty="0" err="1"/>
              <a:t>Monitoreo</a:t>
            </a:r>
            <a:r>
              <a:rPr lang="en-US" dirty="0"/>
              <a:t> </a:t>
            </a:r>
            <a:r>
              <a:rPr lang="en-US" dirty="0" err="1"/>
              <a:t>Atmosférico</a:t>
            </a:r>
            <a:r>
              <a:rPr lang="en-US" dirty="0"/>
              <a:t> de Jalisco (SIMAJ), </a:t>
            </a:r>
            <a:r>
              <a:rPr lang="en-US" dirty="0" err="1"/>
              <a:t>enfocado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área</a:t>
            </a:r>
            <a:r>
              <a:rPr lang="en-US" dirty="0"/>
              <a:t> </a:t>
            </a:r>
            <a:r>
              <a:rPr lang="en-US" dirty="0" err="1"/>
              <a:t>metropolitana</a:t>
            </a:r>
            <a:r>
              <a:rPr lang="en-US" dirty="0"/>
              <a:t> de Guadalajara y zonas </a:t>
            </a:r>
            <a:r>
              <a:rPr lang="en-US" dirty="0" err="1"/>
              <a:t>industriales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El Salto. </a:t>
            </a:r>
          </a:p>
          <a:p>
            <a:pPr lvl="2"/>
            <a:r>
              <a:rPr lang="en-US" dirty="0"/>
              <a:t>Toluca y Estado de México: La Red </a:t>
            </a:r>
            <a:r>
              <a:rPr lang="en-US" dirty="0" err="1"/>
              <a:t>Automática</a:t>
            </a:r>
            <a:r>
              <a:rPr lang="en-US" dirty="0"/>
              <a:t> de </a:t>
            </a:r>
            <a:r>
              <a:rPr lang="en-US" dirty="0" err="1"/>
              <a:t>Monitoreo</a:t>
            </a:r>
            <a:r>
              <a:rPr lang="en-US" dirty="0"/>
              <a:t> </a:t>
            </a:r>
            <a:r>
              <a:rPr lang="en-US" dirty="0" err="1"/>
              <a:t>Atmosférico</a:t>
            </a:r>
            <a:r>
              <a:rPr lang="en-US" dirty="0"/>
              <a:t> (RAMA) </a:t>
            </a:r>
            <a:r>
              <a:rPr lang="en-US" dirty="0" err="1"/>
              <a:t>vigila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Valle de Toluca y </a:t>
            </a:r>
            <a:r>
              <a:rPr lang="en-US" dirty="0" err="1"/>
              <a:t>los</a:t>
            </a:r>
            <a:r>
              <a:rPr lang="en-US" dirty="0"/>
              <a:t> municipios </a:t>
            </a:r>
            <a:r>
              <a:rPr lang="en-US" dirty="0" err="1"/>
              <a:t>conurbados</a:t>
            </a:r>
            <a:r>
              <a:rPr lang="en-US" dirty="0"/>
              <a:t> a la CDMX. </a:t>
            </a:r>
          </a:p>
          <a:p>
            <a:pPr mar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584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6F3F4-E1AF-1482-1494-63D229C52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ADCD9F-9550-DE24-4F1C-F73AED75D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93711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uces con tramas púrpuras">
            <a:extLst>
              <a:ext uri="{FF2B5EF4-FFF2-40B4-BE49-F238E27FC236}">
                <a16:creationId xmlns:a16="http://schemas.microsoft.com/office/drawing/2014/main" id="{4A9723FB-71FA-A12E-4289-6FBD9B9022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20" r="27986" b="-1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F33A0C-78CD-04BB-1B6D-B4D15C541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MX" sz="1400" b="1" dirty="0"/>
              <a:t>Objetivo General</a:t>
            </a:r>
            <a:endParaRPr lang="es-MX" sz="1400" dirty="0"/>
          </a:p>
          <a:p>
            <a:pPr lvl="1">
              <a:lnSpc>
                <a:spcPct val="110000"/>
              </a:lnSpc>
            </a:pPr>
            <a:r>
              <a:rPr lang="es-MX" sz="1400" dirty="0"/>
              <a:t>Desarrollar un sistema inteligente basado en </a:t>
            </a:r>
            <a:r>
              <a:rPr lang="es-MX" sz="1400" dirty="0" err="1"/>
              <a:t>IoT</a:t>
            </a:r>
            <a:r>
              <a:rPr lang="es-MX" sz="1400" dirty="0"/>
              <a:t> y redes neuronales LSTM para monitorear, predecir y simular medidas de mitigación de contaminantes atmosféricos en Culiacán, Sinaloa.</a:t>
            </a:r>
          </a:p>
          <a:p>
            <a:pPr>
              <a:lnSpc>
                <a:spcPct val="110000"/>
              </a:lnSpc>
              <a:spcAft>
                <a:spcPts val="800"/>
              </a:spcAft>
              <a:buNone/>
            </a:pPr>
            <a:r>
              <a:rPr lang="es-MX" sz="1400" b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Objetivos Específicos</a:t>
            </a:r>
            <a:endParaRPr lang="es-MX" sz="14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71500" lvl="1" indent="-342900">
              <a:lnSpc>
                <a:spcPct val="11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400" dirty="0">
                <a:ea typeface="Times New Roman" panose="02020603050405020304" pitchFamily="18" charset="0"/>
              </a:rPr>
              <a:t>Procesar un conjunto de datos históricos de al menos 2 años de variables ambientales y meteorológicas en Culiacán.</a:t>
            </a:r>
          </a:p>
          <a:p>
            <a:pPr marL="571500" lvl="1" indent="-342900">
              <a:lnSpc>
                <a:spcPct val="11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400" dirty="0">
                <a:ea typeface="Times New Roman" panose="02020603050405020304" pitchFamily="18" charset="0"/>
              </a:rPr>
              <a:t>Identificar las 3 zonas con mayor concentración promedio de PM₂.₅ dentro del área urbana.</a:t>
            </a:r>
          </a:p>
          <a:p>
            <a:pPr marL="571500" lvl="1" indent="-342900">
              <a:lnSpc>
                <a:spcPct val="11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400" dirty="0">
                <a:ea typeface="Times New Roman" panose="02020603050405020304" pitchFamily="18" charset="0"/>
              </a:rPr>
              <a:t>Implementar un modelo predictivo LSTM multivariado con horizonte de predicción de 24 horas.</a:t>
            </a:r>
          </a:p>
          <a:p>
            <a:pPr marL="571500" lvl="1" indent="-342900">
              <a:lnSpc>
                <a:spcPct val="11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1400" dirty="0">
                <a:ea typeface="Times New Roman" panose="02020603050405020304" pitchFamily="18" charset="0"/>
              </a:rPr>
              <a:t>Simular escenarios de reducción vehicular o disminución de quema agrícola.</a:t>
            </a:r>
          </a:p>
          <a:p>
            <a:pPr marL="228600" lvl="1" indent="0">
              <a:lnSpc>
                <a:spcPct val="110000"/>
              </a:lnSpc>
              <a:buNone/>
            </a:pPr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408442319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4B8143-3907-5396-F19C-4EDBFE8DE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51DAA0-7439-76B9-B1C6-E993D7CD8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11019514" cy="409651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MX" sz="1700" b="1" dirty="0"/>
              <a:t>Proyectos Afines </a:t>
            </a:r>
          </a:p>
          <a:p>
            <a:pPr marL="0" indent="0">
              <a:lnSpc>
                <a:spcPct val="110000"/>
              </a:lnSpc>
              <a:buNone/>
            </a:pPr>
            <a:endParaRPr lang="es-MX" sz="1700" dirty="0"/>
          </a:p>
          <a:p>
            <a:pPr>
              <a:lnSpc>
                <a:spcPct val="110000"/>
              </a:lnSpc>
            </a:pPr>
            <a:r>
              <a:rPr lang="es-MX" sz="1700" dirty="0"/>
              <a:t>U-Air, desarrollado por </a:t>
            </a:r>
            <a:r>
              <a:rPr lang="es-MX" sz="1700" dirty="0" err="1"/>
              <a:t>Yu</a:t>
            </a:r>
            <a:r>
              <a:rPr lang="es-MX" sz="1700" dirty="0"/>
              <a:t> Zheng en Microsoft </a:t>
            </a:r>
            <a:r>
              <a:rPr lang="es-MX" sz="1700" dirty="0" err="1"/>
              <a:t>Research</a:t>
            </a:r>
            <a:r>
              <a:rPr lang="es-MX" sz="1700" dirty="0"/>
              <a:t> Asia, donde se demostró que redes neuronales podían inferir niveles de PM₂.₅ en zonas sin sensores físicos mediante datos de tráfico y meteorología.</a:t>
            </a:r>
          </a:p>
          <a:p>
            <a:pPr>
              <a:lnSpc>
                <a:spcPct val="110000"/>
              </a:lnSpc>
            </a:pPr>
            <a:r>
              <a:rPr lang="es-MX" sz="1700" dirty="0" err="1"/>
              <a:t>DeepAir</a:t>
            </a:r>
            <a:r>
              <a:rPr lang="es-MX" sz="1700" dirty="0"/>
              <a:t> desarrollado por Google y </a:t>
            </a:r>
            <a:r>
              <a:rPr lang="es-MX" sz="1700" dirty="0" err="1"/>
              <a:t>Aclima</a:t>
            </a:r>
            <a:r>
              <a:rPr lang="es-MX" sz="1700" dirty="0"/>
              <a:t> demostró que la contaminación varía significativamente incluso dentro de una misma calle, lo que valida la necesidad de monitoreo distribuido.</a:t>
            </a:r>
          </a:p>
          <a:p>
            <a:pPr>
              <a:lnSpc>
                <a:spcPct val="110000"/>
              </a:lnSpc>
            </a:pPr>
            <a:r>
              <a:rPr lang="es-MX" sz="1700" dirty="0"/>
              <a:t>En Europa, el Proyecto PULSE, financiado por Horizonte 2020, integró modelos de IA para correlacionar exposición a contaminantes con datos de salud pública.</a:t>
            </a:r>
          </a:p>
          <a:p>
            <a:pPr>
              <a:lnSpc>
                <a:spcPct val="110000"/>
              </a:lnSpc>
            </a:pPr>
            <a:r>
              <a:rPr lang="es-MX" sz="1700" dirty="0"/>
              <a:t>El proyecto City-Scanner del MIT introdujo la metodología de sensores móviles de bajo costo, demostrando que la IA puede filtrar el “ruido” de sensores económicos para obtener datos confiables.</a:t>
            </a:r>
          </a:p>
          <a:p>
            <a:pPr marL="0" indent="0">
              <a:lnSpc>
                <a:spcPct val="110000"/>
              </a:lnSpc>
              <a:buNone/>
            </a:pPr>
            <a:endParaRPr lang="es-MX" sz="1700" dirty="0"/>
          </a:p>
        </p:txBody>
      </p:sp>
    </p:spTree>
    <p:extLst>
      <p:ext uri="{BB962C8B-B14F-4D97-AF65-F5344CB8AC3E}">
        <p14:creationId xmlns:p14="http://schemas.microsoft.com/office/powerpoint/2010/main" val="2733177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órmulas matemáticas complejas en una pizarra">
            <a:extLst>
              <a:ext uri="{FF2B5EF4-FFF2-40B4-BE49-F238E27FC236}">
                <a16:creationId xmlns:a16="http://schemas.microsoft.com/office/drawing/2014/main" id="{A3FF7861-1E83-9E13-286A-A4F31EF139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042" r="9116" b="-1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D1E37E-10E1-D00B-6D04-4D255E7E1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07" y="2212846"/>
            <a:ext cx="4361693" cy="409651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MX" sz="1400" b="1" dirty="0"/>
              <a:t>Tipo de Estudio</a:t>
            </a:r>
            <a:endParaRPr lang="es-MX" sz="1400" dirty="0"/>
          </a:p>
          <a:p>
            <a:pPr lvl="1">
              <a:lnSpc>
                <a:spcPct val="110000"/>
              </a:lnSpc>
            </a:pPr>
            <a:r>
              <a:rPr lang="es-MX" sz="1400" dirty="0"/>
              <a:t>Enfoque: Cuantitativo</a:t>
            </a:r>
            <a:br>
              <a:rPr lang="es-MX" sz="1400" dirty="0"/>
            </a:br>
            <a:r>
              <a:rPr lang="es-MX" sz="1400" dirty="0"/>
              <a:t>Alcance: Descriptivo-Correlacional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MX" sz="1400" b="1" dirty="0"/>
              <a:t>Metodología de Desarrollo</a:t>
            </a:r>
            <a:endParaRPr lang="es-MX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s-MX" sz="1400" dirty="0"/>
              <a:t>Se utilizará la metodología CRISP-DM(Cross-</a:t>
            </a:r>
            <a:r>
              <a:rPr lang="es-MX" sz="1400" dirty="0" err="1"/>
              <a:t>Industry</a:t>
            </a:r>
            <a:r>
              <a:rPr lang="es-MX" sz="1400" dirty="0"/>
              <a:t> Standard </a:t>
            </a:r>
            <a:r>
              <a:rPr lang="es-MX" sz="1400" dirty="0" err="1"/>
              <a:t>Process</a:t>
            </a:r>
            <a:r>
              <a:rPr lang="es-MX" sz="1400" dirty="0"/>
              <a:t> </a:t>
            </a:r>
            <a:r>
              <a:rPr lang="es-MX" sz="1400" dirty="0" err="1"/>
              <a:t>for</a:t>
            </a:r>
            <a:r>
              <a:rPr lang="es-MX" sz="1400" dirty="0"/>
              <a:t> Data </a:t>
            </a:r>
            <a:r>
              <a:rPr lang="es-MX" sz="1400" dirty="0" err="1"/>
              <a:t>Mining</a:t>
            </a:r>
            <a:r>
              <a:rPr lang="es-MX" sz="1400" dirty="0"/>
              <a:t>).</a:t>
            </a:r>
          </a:p>
          <a:p>
            <a:pPr lvl="1">
              <a:lnSpc>
                <a:spcPct val="110000"/>
              </a:lnSpc>
            </a:pPr>
            <a:r>
              <a:rPr lang="es-MX" sz="1400" dirty="0"/>
              <a:t>Comprensión del entorno </a:t>
            </a:r>
          </a:p>
          <a:p>
            <a:pPr lvl="1">
              <a:lnSpc>
                <a:spcPct val="110000"/>
              </a:lnSpc>
            </a:pPr>
            <a:r>
              <a:rPr lang="es-MX" sz="1400" dirty="0"/>
              <a:t>Comprensión de datos</a:t>
            </a:r>
          </a:p>
          <a:p>
            <a:pPr lvl="1">
              <a:lnSpc>
                <a:spcPct val="110000"/>
              </a:lnSpc>
            </a:pPr>
            <a:r>
              <a:rPr lang="es-MX" sz="1400" dirty="0"/>
              <a:t>Preparación de datos</a:t>
            </a:r>
          </a:p>
          <a:p>
            <a:pPr lvl="1">
              <a:lnSpc>
                <a:spcPct val="110000"/>
              </a:lnSpc>
            </a:pPr>
            <a:r>
              <a:rPr lang="es-MX" sz="1400" dirty="0"/>
              <a:t>Modelado</a:t>
            </a:r>
          </a:p>
          <a:p>
            <a:pPr lvl="1">
              <a:lnSpc>
                <a:spcPct val="110000"/>
              </a:lnSpc>
            </a:pPr>
            <a:r>
              <a:rPr lang="es-MX" sz="1400" dirty="0"/>
              <a:t>Evaluación</a:t>
            </a:r>
          </a:p>
          <a:p>
            <a:pPr lvl="1">
              <a:lnSpc>
                <a:spcPct val="110000"/>
              </a:lnSpc>
            </a:pPr>
            <a:r>
              <a:rPr lang="es-MX" sz="1400" dirty="0"/>
              <a:t>Simulación de Mitigación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MX" sz="1400" dirty="0"/>
              <a:t> </a:t>
            </a:r>
          </a:p>
          <a:p>
            <a:pPr marL="0" indent="0">
              <a:lnSpc>
                <a:spcPct val="110000"/>
              </a:lnSpc>
              <a:buNone/>
            </a:pPr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3992344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5ACB2F-CDA2-EF6C-1026-0074F901A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432079"/>
            <a:ext cx="10653579" cy="5877281"/>
          </a:xfrm>
        </p:spPr>
        <p:txBody>
          <a:bodyPr/>
          <a:lstStyle/>
          <a:p>
            <a:pPr marL="0" indent="0">
              <a:buNone/>
            </a:pPr>
            <a:r>
              <a:rPr lang="es-MX" b="1" dirty="0"/>
              <a:t>Comprensión del entorno</a:t>
            </a:r>
            <a:endParaRPr lang="es-MX" dirty="0"/>
          </a:p>
          <a:p>
            <a:pPr lvl="1"/>
            <a:r>
              <a:rPr lang="es-MX" dirty="0"/>
              <a:t>Análisis de límites máximos permisibles establecidos por la OMS.</a:t>
            </a:r>
          </a:p>
          <a:p>
            <a:pPr lvl="1"/>
            <a:r>
              <a:rPr lang="es-MX" dirty="0"/>
              <a:t>Identificación de actores locales: Ayuntamiento de Culiacán, Secretaría de Desarrollo Sustentable de Sinaloa.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2050" name="Picture 2" descr="Thumbnail Image">
            <a:extLst>
              <a:ext uri="{FF2B5EF4-FFF2-40B4-BE49-F238E27FC236}">
                <a16:creationId xmlns:a16="http://schemas.microsoft.com/office/drawing/2014/main" id="{87205767-E7E7-229E-ED5D-860445123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7937" y="2576810"/>
            <a:ext cx="1524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4FD309A-89E1-C681-CB44-15A05C962F55}"/>
              </a:ext>
            </a:extLst>
          </p:cNvPr>
          <p:cNvSpPr txBox="1"/>
          <p:nvPr/>
        </p:nvSpPr>
        <p:spPr>
          <a:xfrm>
            <a:off x="612647" y="4979371"/>
            <a:ext cx="383458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/>
              <a:t>Directrices mundiales de la OMS sobre la calidad del aire: materia particulada (MP2.5 y MP10), ozono, dióxido de nitrógeno, dióxido de azufre y monóxido de carbono: resumen ejecutivo</a:t>
            </a:r>
            <a:endParaRPr lang="es-MX" sz="1400" dirty="0"/>
          </a:p>
          <a:p>
            <a:endParaRPr lang="es-MX" dirty="0"/>
          </a:p>
        </p:txBody>
      </p:sp>
      <p:pic>
        <p:nvPicPr>
          <p:cNvPr id="2054" name="Picture 6" descr="Ayuntamiento de Culiacán (@ayuntamientocln) • Instagram photos and videos">
            <a:extLst>
              <a:ext uri="{FF2B5EF4-FFF2-40B4-BE49-F238E27FC236}">
                <a16:creationId xmlns:a16="http://schemas.microsoft.com/office/drawing/2014/main" id="{CAF7D132-C426-E703-4480-4D81704F7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356" y="2543222"/>
            <a:ext cx="2319588" cy="231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Secretaría del Bienestar y Desarrollo Sustentable (@SebidesOficial) / Posts  / X">
            <a:extLst>
              <a:ext uri="{FF2B5EF4-FFF2-40B4-BE49-F238E27FC236}">
                <a16:creationId xmlns:a16="http://schemas.microsoft.com/office/drawing/2014/main" id="{9D4DC2A2-04F1-0020-EDA3-EFA6AAC0A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0936" y="2543222"/>
            <a:ext cx="2319588" cy="231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0957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Nubes de papel flotantes">
            <a:extLst>
              <a:ext uri="{FF2B5EF4-FFF2-40B4-BE49-F238E27FC236}">
                <a16:creationId xmlns:a16="http://schemas.microsoft.com/office/drawing/2014/main" id="{BA8160B4-417A-55E4-9B9F-1171B4F280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22" r="16044" b="-1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3E42E1-E21C-73C7-D9C4-135DD1296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07" y="2212846"/>
            <a:ext cx="4361693" cy="4096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800" b="1" dirty="0"/>
              <a:t>Comprensión de datos</a:t>
            </a:r>
            <a:endParaRPr lang="es-MX" sz="1800"/>
          </a:p>
          <a:p>
            <a:pPr lvl="1"/>
            <a:r>
              <a:rPr lang="es-MX" dirty="0"/>
              <a:t>Datos atmosféricos: PM₂.₅, PM₁₀, NO₂ y O₃.</a:t>
            </a:r>
            <a:endParaRPr lang="es-MX"/>
          </a:p>
          <a:p>
            <a:pPr lvl="1"/>
            <a:r>
              <a:rPr lang="es-MX" dirty="0"/>
              <a:t>Datos meteorológicos: temperatura, humedad, velocidad del viento.</a:t>
            </a:r>
            <a:endParaRPr lang="es-MX"/>
          </a:p>
          <a:p>
            <a:pPr lvl="1"/>
            <a:r>
              <a:rPr lang="es-MX" dirty="0"/>
              <a:t>Datos de movilidad urbana.</a:t>
            </a:r>
            <a:endParaRPr lang="es-MX"/>
          </a:p>
          <a:p>
            <a:pPr marL="0" indent="0">
              <a:buNone/>
            </a:pPr>
            <a:endParaRPr lang="es-MX" sz="1800"/>
          </a:p>
        </p:txBody>
      </p:sp>
    </p:spTree>
    <p:extLst>
      <p:ext uri="{BB962C8B-B14F-4D97-AF65-F5344CB8AC3E}">
        <p14:creationId xmlns:p14="http://schemas.microsoft.com/office/powerpoint/2010/main" val="800052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Normalización de base de datos | Blog UE">
            <a:extLst>
              <a:ext uri="{FF2B5EF4-FFF2-40B4-BE49-F238E27FC236}">
                <a16:creationId xmlns:a16="http://schemas.microsoft.com/office/drawing/2014/main" id="{73E00C4E-09EB-082D-5AD9-7D9495FD9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18" r="18807"/>
          <a:stretch>
            <a:fillRect/>
          </a:stretch>
        </p:blipFill>
        <p:spPr bwMode="auto">
          <a:xfrm>
            <a:off x="1" y="10"/>
            <a:ext cx="6373368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26F0BA-06AB-CE4F-7AA2-1A4DCA3CF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07" y="2212846"/>
            <a:ext cx="4361693" cy="4096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800" b="1" dirty="0"/>
              <a:t>Preparación de datos</a:t>
            </a:r>
            <a:endParaRPr lang="es-MX" sz="1800" dirty="0"/>
          </a:p>
          <a:p>
            <a:pPr lvl="1"/>
            <a:r>
              <a:rPr lang="es-MX" dirty="0"/>
              <a:t>Limpieza de lecturas erróneas.</a:t>
            </a:r>
          </a:p>
          <a:p>
            <a:pPr lvl="1"/>
            <a:r>
              <a:rPr lang="es-MX" dirty="0"/>
              <a:t>Normalización de variables.</a:t>
            </a:r>
          </a:p>
          <a:p>
            <a:pPr lvl="1"/>
            <a:r>
              <a:rPr lang="es-MX" dirty="0"/>
              <a:t>Ingeniería de características (ej. índices de riesgo horario).</a:t>
            </a:r>
          </a:p>
          <a:p>
            <a:pPr marL="0" indent="0">
              <a:buNone/>
            </a:pPr>
            <a:endParaRPr lang="es-MX" sz="1800" dirty="0"/>
          </a:p>
        </p:txBody>
      </p:sp>
    </p:spTree>
    <p:extLst>
      <p:ext uri="{BB962C8B-B14F-4D97-AF65-F5344CB8AC3E}">
        <p14:creationId xmlns:p14="http://schemas.microsoft.com/office/powerpoint/2010/main" val="5395345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BF1ADC-BD27-1B11-C9B0-B1AF52F0A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4361687" cy="4096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800" b="1" dirty="0"/>
              <a:t>Modelado</a:t>
            </a:r>
            <a:endParaRPr lang="es-MX" sz="1800" dirty="0"/>
          </a:p>
          <a:p>
            <a:pPr marL="0" indent="0">
              <a:buNone/>
            </a:pPr>
            <a:r>
              <a:rPr lang="es-MX" sz="1800" dirty="0"/>
              <a:t>Se entrenará una red neuronal LSTM para predicción de series temporales.</a:t>
            </a:r>
          </a:p>
          <a:p>
            <a:pPr marL="0" indent="0">
              <a:buNone/>
            </a:pPr>
            <a:r>
              <a:rPr lang="es-MX" sz="1800"/>
              <a:t>Se optimizarán hiperparámetros como:</a:t>
            </a:r>
          </a:p>
          <a:p>
            <a:pPr lvl="2"/>
            <a:r>
              <a:rPr lang="es-MX" sz="1800"/>
              <a:t>Número de capas ocultas.</a:t>
            </a:r>
          </a:p>
          <a:p>
            <a:pPr lvl="2"/>
            <a:r>
              <a:rPr lang="es-MX" sz="1800"/>
              <a:t>Tasa de aprendizaje.</a:t>
            </a:r>
          </a:p>
          <a:p>
            <a:pPr lvl="2"/>
            <a:r>
              <a:rPr lang="es-MX" sz="1800"/>
              <a:t>Tamaño de ventana temporal.</a:t>
            </a:r>
          </a:p>
          <a:p>
            <a:pPr marL="0" indent="0">
              <a:buNone/>
            </a:pPr>
            <a:endParaRPr lang="es-MX" sz="1800" dirty="0"/>
          </a:p>
        </p:txBody>
      </p:sp>
      <p:pic>
        <p:nvPicPr>
          <p:cNvPr id="5" name="Picture 4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16F84FEA-B2AB-E9F2-4CEB-26918CECFD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25" r="2067" b="2"/>
          <a:stretch>
            <a:fillRect/>
          </a:stretch>
        </p:blipFill>
        <p:spPr>
          <a:xfrm>
            <a:off x="5818632" y="-1"/>
            <a:ext cx="637336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825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F57BE7-DA4E-8D83-5E0B-8778946B0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472273"/>
            <a:ext cx="10653579" cy="58370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/>
              <a:t>Evaluación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Se medirá el desempeño predictivo mediante:</a:t>
            </a:r>
          </a:p>
          <a:p>
            <a:pPr marL="0" indent="0">
              <a:buNone/>
            </a:pPr>
            <a:endParaRPr lang="es-MX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F0E7E6D9-2029-EB93-5A7F-35027BA36C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9946512"/>
                  </p:ext>
                </p:extLst>
              </p:nvPr>
            </p:nvGraphicFramePr>
            <p:xfrm>
              <a:off x="1342020" y="1670841"/>
              <a:ext cx="9507960" cy="4548251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169320">
                      <a:extLst>
                        <a:ext uri="{9D8B030D-6E8A-4147-A177-3AD203B41FA5}">
                          <a16:colId xmlns:a16="http://schemas.microsoft.com/office/drawing/2014/main" val="168513670"/>
                        </a:ext>
                      </a:extLst>
                    </a:gridCol>
                    <a:gridCol w="3169320">
                      <a:extLst>
                        <a:ext uri="{9D8B030D-6E8A-4147-A177-3AD203B41FA5}">
                          <a16:colId xmlns:a16="http://schemas.microsoft.com/office/drawing/2014/main" val="943144238"/>
                        </a:ext>
                      </a:extLst>
                    </a:gridCol>
                    <a:gridCol w="3169320">
                      <a:extLst>
                        <a:ext uri="{9D8B030D-6E8A-4147-A177-3AD203B41FA5}">
                          <a16:colId xmlns:a16="http://schemas.microsoft.com/office/drawing/2014/main" val="17445127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b="1" dirty="0"/>
                            <a:t>MAE (Mean Absolute Error)</a:t>
                          </a:r>
                        </a:p>
                        <a:p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b="1" dirty="0"/>
                            <a:t>RMSE (</a:t>
                          </a:r>
                          <a:r>
                            <a:rPr lang="es-MX" b="1" dirty="0" err="1"/>
                            <a:t>Root</a:t>
                          </a:r>
                          <a:r>
                            <a:rPr lang="es-MX" b="1" dirty="0"/>
                            <a:t> Mean </a:t>
                          </a:r>
                          <a:r>
                            <a:rPr lang="es-MX" b="1" dirty="0" err="1"/>
                            <a:t>Squared</a:t>
                          </a:r>
                          <a:r>
                            <a:rPr lang="es-MX" b="1" dirty="0"/>
                            <a:t> Error)</a:t>
                          </a:r>
                        </a:p>
                        <a:p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b="1" dirty="0"/>
                            <a:t>R² (Coeficiente de Determinación)</a:t>
                          </a:r>
                        </a:p>
                        <a:p>
                          <a:endParaRPr lang="es-MX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08020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b="1" dirty="0"/>
                            <a:t>Error Absoluto Medio</a:t>
                          </a:r>
                          <a:endParaRPr lang="es-MX" dirty="0"/>
                        </a:p>
                        <a:p>
                          <a:pPr>
                            <a:buNone/>
                          </a:pPr>
                          <a:r>
                            <a:rPr lang="es-MX" dirty="0"/>
                            <a:t>Mide el promedio del error absoluto entre valores reales y predichos.</a:t>
                          </a: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/>
                                  <m:t>𝑀𝐴𝐸</m:t>
                                </m:r>
                                <m:r>
                                  <a:rPr lang="es-MX"/>
                                  <m:t>=</m:t>
                                </m:r>
                                <m:f>
                                  <m:fPr>
                                    <m:ctrlPr>
                                      <a:rPr lang="ar-AE"/>
                                    </m:ctrlPr>
                                  </m:fPr>
                                  <m:num>
                                    <m:r>
                                      <a:rPr lang="ar-AE"/>
                                      <m:t>1</m:t>
                                    </m:r>
                                  </m:num>
                                  <m:den>
                                    <m:r>
                                      <a:rPr lang="ar-AE"/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grow m:val="on"/>
                                    <m:subHide m:val="on"/>
                                    <m:supHide m:val="on"/>
                                    <m:ctrlPr>
                                      <a:rPr lang="ar-AE"/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ar-AE"/>
                                      <m:t>∣</m:t>
                                    </m:r>
                                  </m:e>
                                </m:nary>
                                <m:sSub>
                                  <m:sSubPr>
                                    <m:ctrlPr>
                                      <a:rPr lang="ar-AE"/>
                                    </m:ctrlPr>
                                  </m:sSubPr>
                                  <m:e>
                                    <m:r>
                                      <a:rPr lang="ar-AE"/>
                                      <m:t>𝑦</m:t>
                                    </m:r>
                                  </m:e>
                                  <m:sub>
                                    <m:r>
                                      <a:rPr lang="ar-AE"/>
                                      <m:t>𝑖</m:t>
                                    </m:r>
                                  </m:sub>
                                </m:sSub>
                                <m:r>
                                  <a:rPr lang="ar-AE"/>
                                  <m:t>−</m:t>
                                </m:r>
                                <m:sSub>
                                  <m:sSubPr>
                                    <m:ctrlPr>
                                      <a:rPr lang="ar-AE"/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ar-AE"/>
                                        </m:ctrlPr>
                                      </m:accPr>
                                      <m:e>
                                        <m:r>
                                          <a:rPr lang="ar-AE"/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ar-AE"/>
                                      <m:t>𝑖</m:t>
                                    </m:r>
                                  </m:sub>
                                </m:sSub>
                                <m:r>
                                  <a:rPr lang="ar-AE"/>
                                  <m:t>∣</m:t>
                                </m:r>
                              </m:oMath>
                            </m:oMathPara>
                          </a14:m>
                          <a:endParaRPr lang="ar-AE" dirty="0"/>
                        </a:p>
                        <a:p>
                          <a:pPr>
                            <a:buFont typeface="Arial" panose="020B0604020202020204" pitchFamily="34" charset="0"/>
                            <a:buNone/>
                          </a:pPr>
                          <a:r>
                            <a:rPr lang="es-MX" dirty="0"/>
                            <a:t>No penaliza más los errores grandes.</a:t>
                          </a:r>
                        </a:p>
                        <a:p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s-MX" b="1" dirty="0"/>
                            <a:t>Raíz del Error Cuadrático Medio</a:t>
                          </a:r>
                        </a:p>
                        <a:p>
                          <a:pPr marL="0" indent="0">
                            <a:buNone/>
                          </a:pPr>
                          <a:r>
                            <a:rPr lang="es-ES" dirty="0"/>
                            <a:t>Mide qué tan grandes son los errores del modelo.</a:t>
                          </a:r>
                          <a:endParaRPr lang="es-MX" dirty="0"/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MX"/>
                                  <m:t>𝑅𝑀𝑆𝐸</m:t>
                                </m:r>
                                <m:r>
                                  <a:rPr lang="es-MX"/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ar-AE"/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ar-AE"/>
                                        </m:ctrlPr>
                                      </m:fPr>
                                      <m:num>
                                        <m:r>
                                          <a:rPr lang="ar-AE"/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ar-AE"/>
                                          <m:t>𝑛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grow m:val="on"/>
                                        <m:subHide m:val="on"/>
                                        <m:supHide m:val="on"/>
                                        <m:ctrlPr>
                                          <a:rPr lang="ar-AE"/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r>
                                          <a:rPr lang="ar-AE"/>
                                          <m:t>(</m:t>
                                        </m:r>
                                      </m:e>
                                    </m:nary>
                                    <m:d>
                                      <m:dPr>
                                        <m:begChr m:val=""/>
                                        <m:endChr m:val=""/>
                                        <m:ctrlPr>
                                          <a:rPr lang="ar-AE"/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ar-AE"/>
                                            </m:ctrlPr>
                                          </m:sSubPr>
                                          <m:e>
                                            <m:r>
                                              <a:rPr lang="ar-AE"/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ar-AE"/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ar-AE"/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ar-AE"/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ar-AE"/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ar-AE"/>
                                                  <m:t>𝑦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ar-AE"/>
                                              <m:t>𝑖</m:t>
                                            </m:r>
                                          </m:sub>
                                        </m:sSub>
                                        <m:sSup>
                                          <m:sSupPr>
                                            <m:ctrlPr>
                                              <a:rPr lang="ar-AE"/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begChr m:val=""/>
                                                <m:endChr m:val=""/>
                                                <m:ctrlPr>
                                                  <a:rPr lang="ar-AE"/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ar-AE"/>
                                                  <m:t>)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ar-AE"/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rad>
                              </m:oMath>
                            </m:oMathPara>
                          </a14:m>
                          <a:endParaRPr lang="ar-AE" dirty="0"/>
                        </a:p>
                        <a:p>
                          <a:pPr marL="0" indent="0">
                            <a:buNone/>
                          </a:pPr>
                          <a:r>
                            <a:rPr lang="es-MX" dirty="0"/>
                            <a:t>Penaliza más los errores grandes.</a:t>
                          </a:r>
                        </a:p>
                        <a:p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dirty="0"/>
                            <a:t>Mide qué tan bien el modelo explica la variabilidad de los datos.</a:t>
                          </a: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ar-AE" smtClean="0"/>
                                    </m:ctrlPr>
                                  </m:sSupPr>
                                  <m:e>
                                    <m:r>
                                      <a:rPr lang="ar-AE"/>
                                      <m:t>𝑅</m:t>
                                    </m:r>
                                  </m:e>
                                  <m:sup>
                                    <m:r>
                                      <a:rPr lang="ar-AE"/>
                                      <m:t>2</m:t>
                                    </m:r>
                                  </m:sup>
                                </m:sSup>
                                <m:r>
                                  <a:rPr lang="ar-AE"/>
                                  <m:t>=</m:t>
                                </m:r>
                                <m:r>
                                  <a:rPr lang="ar-AE"/>
                                  <m:t>1</m:t>
                                </m:r>
                                <m:r>
                                  <a:rPr lang="ar-AE"/>
                                  <m:t>−</m:t>
                                </m:r>
                                <m:f>
                                  <m:fPr>
                                    <m:ctrlPr>
                                      <a:rPr lang="ar-AE"/>
                                    </m:ctrlPr>
                                  </m:fPr>
                                  <m:num>
                                    <m:nary>
                                      <m:naryPr>
                                        <m:chr m:val="∑"/>
                                        <m:grow m:val="on"/>
                                        <m:subHide m:val="on"/>
                                        <m:supHide m:val="on"/>
                                        <m:ctrlPr>
                                          <a:rPr lang="ar-AE"/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r>
                                          <a:rPr lang="ar-AE"/>
                                          <m:t>(</m:t>
                                        </m:r>
                                      </m:e>
                                    </m:nary>
                                    <m:d>
                                      <m:dPr>
                                        <m:begChr m:val=""/>
                                        <m:endChr m:val=""/>
                                        <m:ctrlPr>
                                          <a:rPr lang="ar-AE"/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ar-AE"/>
                                            </m:ctrlPr>
                                          </m:sSubPr>
                                          <m:e>
                                            <m:r>
                                              <a:rPr lang="ar-AE"/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ar-AE"/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ar-AE"/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ar-AE"/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ar-AE"/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ar-AE"/>
                                                  <m:t>𝑦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ar-AE"/>
                                              <m:t>𝑖</m:t>
                                            </m:r>
                                          </m:sub>
                                        </m:sSub>
                                        <m:sSup>
                                          <m:sSupPr>
                                            <m:ctrlPr>
                                              <a:rPr lang="ar-AE"/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begChr m:val=""/>
                                                <m:endChr m:val=""/>
                                                <m:ctrlPr>
                                                  <a:rPr lang="ar-AE"/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ar-AE"/>
                                                  <m:t>)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ar-AE"/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num>
                                  <m:den>
                                    <m:nary>
                                      <m:naryPr>
                                        <m:chr m:val="∑"/>
                                        <m:grow m:val="on"/>
                                        <m:subHide m:val="on"/>
                                        <m:supHide m:val="on"/>
                                        <m:ctrlPr>
                                          <a:rPr lang="ar-AE"/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r>
                                          <a:rPr lang="ar-AE"/>
                                          <m:t>(</m:t>
                                        </m:r>
                                      </m:e>
                                    </m:nary>
                                    <m:d>
                                      <m:dPr>
                                        <m:begChr m:val=""/>
                                        <m:endChr m:val=""/>
                                        <m:ctrlPr>
                                          <a:rPr lang="ar-AE"/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ar-AE"/>
                                            </m:ctrlPr>
                                          </m:sSubPr>
                                          <m:e>
                                            <m:r>
                                              <a:rPr lang="ar-AE"/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ar-AE"/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ar-AE"/>
                                          <m:t>−</m:t>
                                        </m:r>
                                        <m:limUpp>
                                          <m:limUppPr>
                                            <m:ctrlPr>
                                              <a:rPr lang="ar-AE"/>
                                            </m:ctrlPr>
                                          </m:limUppPr>
                                          <m:e>
                                            <m:r>
                                              <a:rPr lang="ar-AE"/>
                                              <m:t>𝑦</m:t>
                                            </m:r>
                                          </m:e>
                                          <m:lim>
                                            <m:r>
                                              <a:rPr lang="ar-AE"/>
                                              <m:t>ˉ</m:t>
                                            </m:r>
                                          </m:lim>
                                        </m:limUpp>
                                        <m:sSup>
                                          <m:sSupPr>
                                            <m:ctrlPr>
                                              <a:rPr lang="ar-AE"/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begChr m:val=""/>
                                                <m:endChr m:val=""/>
                                                <m:ctrlPr>
                                                  <a:rPr lang="ar-AE"/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ar-AE"/>
                                                  <m:t>)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ar-AE"/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es-MX" dirty="0"/>
                        </a:p>
                        <a:p>
                          <a:pPr>
                            <a:buNone/>
                          </a:pPr>
                          <a:r>
                            <a:rPr lang="es-MX" dirty="0"/>
                            <a:t>Valores posibles:</a:t>
                          </a:r>
                        </a:p>
                        <a:p>
                          <a:pPr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b="1" dirty="0"/>
                            <a:t>1</a:t>
                          </a:r>
                          <a:r>
                            <a:rPr lang="es-MX" dirty="0"/>
                            <a:t> → Predicción perfecta</a:t>
                          </a:r>
                        </a:p>
                        <a:p>
                          <a:pPr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b="1" dirty="0"/>
                            <a:t>0</a:t>
                          </a:r>
                          <a:r>
                            <a:rPr lang="es-MX" dirty="0"/>
                            <a:t> → No mejora respecto al promedio</a:t>
                          </a:r>
                        </a:p>
                        <a:p>
                          <a:pPr>
                            <a:buFont typeface="Arial" panose="020B0604020202020204" pitchFamily="34" charset="0"/>
                            <a:buChar char="•"/>
                          </a:pPr>
                          <a:r>
                            <a:rPr lang="es-MX" b="1" dirty="0"/>
                            <a:t>&lt; 0</a:t>
                          </a:r>
                          <a:r>
                            <a:rPr lang="es-MX" dirty="0"/>
                            <a:t> → Peor que usar la media</a:t>
                          </a:r>
                        </a:p>
                        <a:p>
                          <a:endParaRPr lang="es-MX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778396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F0E7E6D9-2029-EB93-5A7F-35027BA36C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9946512"/>
                  </p:ext>
                </p:extLst>
              </p:nvPr>
            </p:nvGraphicFramePr>
            <p:xfrm>
              <a:off x="1342020" y="1670841"/>
              <a:ext cx="9507960" cy="4548251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169320">
                      <a:extLst>
                        <a:ext uri="{9D8B030D-6E8A-4147-A177-3AD203B41FA5}">
                          <a16:colId xmlns:a16="http://schemas.microsoft.com/office/drawing/2014/main" val="168513670"/>
                        </a:ext>
                      </a:extLst>
                    </a:gridCol>
                    <a:gridCol w="3169320">
                      <a:extLst>
                        <a:ext uri="{9D8B030D-6E8A-4147-A177-3AD203B41FA5}">
                          <a16:colId xmlns:a16="http://schemas.microsoft.com/office/drawing/2014/main" val="943144238"/>
                        </a:ext>
                      </a:extLst>
                    </a:gridCol>
                    <a:gridCol w="3169320">
                      <a:extLst>
                        <a:ext uri="{9D8B030D-6E8A-4147-A177-3AD203B41FA5}">
                          <a16:colId xmlns:a16="http://schemas.microsoft.com/office/drawing/2014/main" val="174451273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b="1" dirty="0"/>
                            <a:t>MAE (Mean Absolute Error)</a:t>
                          </a:r>
                        </a:p>
                        <a:p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b="1" dirty="0"/>
                            <a:t>RMSE (</a:t>
                          </a:r>
                          <a:r>
                            <a:rPr lang="es-MX" b="1" dirty="0" err="1"/>
                            <a:t>Root</a:t>
                          </a:r>
                          <a:r>
                            <a:rPr lang="es-MX" b="1" dirty="0"/>
                            <a:t> Mean </a:t>
                          </a:r>
                          <a:r>
                            <a:rPr lang="es-MX" b="1" dirty="0" err="1"/>
                            <a:t>Squared</a:t>
                          </a:r>
                          <a:r>
                            <a:rPr lang="es-MX" b="1" dirty="0"/>
                            <a:t> Error)</a:t>
                          </a:r>
                        </a:p>
                        <a:p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b="1" dirty="0"/>
                            <a:t>R² (Coeficiente de Determinación)</a:t>
                          </a:r>
                        </a:p>
                        <a:p>
                          <a:endParaRPr lang="es-MX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0802067"/>
                      </a:ext>
                    </a:extLst>
                  </a:tr>
                  <a:tr h="3633851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2"/>
                          <a:stretch>
                            <a:fillRect l="-192" t="-25796" r="-200962" b="-3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2"/>
                          <a:stretch>
                            <a:fillRect l="-100192" t="-25796" r="-100962" b="-3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2"/>
                          <a:stretch>
                            <a:fillRect l="-200192" t="-25796" r="-962" b="-3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778396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5167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0" name="Rectangle 4107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Los modelos de simulación: ¿qué son y para qué sirven? | UNIR">
            <a:extLst>
              <a:ext uri="{FF2B5EF4-FFF2-40B4-BE49-F238E27FC236}">
                <a16:creationId xmlns:a16="http://schemas.microsoft.com/office/drawing/2014/main" id="{A6825093-1291-2ADF-8727-492AD2631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49" r="35676"/>
          <a:stretch>
            <a:fillRect/>
          </a:stretch>
        </p:blipFill>
        <p:spPr bwMode="auto">
          <a:xfrm>
            <a:off x="1" y="10"/>
            <a:ext cx="6373368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C42656-7C95-2AFB-E2EE-D816366D1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07" y="2212846"/>
            <a:ext cx="4361693" cy="409651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MX" sz="1500" b="1"/>
              <a:t>Simulación de Mitigación</a:t>
            </a:r>
            <a:endParaRPr lang="es-MX" sz="1500"/>
          </a:p>
          <a:p>
            <a:pPr marL="0" indent="0">
              <a:lnSpc>
                <a:spcPct val="110000"/>
              </a:lnSpc>
              <a:buNone/>
            </a:pPr>
            <a:r>
              <a:rPr lang="es-MX" sz="1500"/>
              <a:t>Se desarrollará un módulo de simulación basado en escenarios hipotéticos (“what-if”), donde se modelará la posible reducción de concentración contaminante ante:</a:t>
            </a:r>
          </a:p>
          <a:p>
            <a:pPr lvl="1">
              <a:lnSpc>
                <a:spcPct val="110000"/>
              </a:lnSpc>
            </a:pPr>
            <a:r>
              <a:rPr lang="es-MX" sz="1500"/>
              <a:t>Reducción del flujo vehicular en horas pico.</a:t>
            </a:r>
          </a:p>
          <a:p>
            <a:pPr lvl="1">
              <a:lnSpc>
                <a:spcPct val="110000"/>
              </a:lnSpc>
            </a:pPr>
            <a:r>
              <a:rPr lang="es-MX" sz="1500"/>
              <a:t>Restricción temporal en zonas céntricas.</a:t>
            </a:r>
          </a:p>
          <a:p>
            <a:pPr lvl="1">
              <a:lnSpc>
                <a:spcPct val="110000"/>
              </a:lnSpc>
            </a:pPr>
            <a:r>
              <a:rPr lang="es-MX" sz="1500"/>
              <a:t>Disminución hipotética de quema agrícola.</a:t>
            </a:r>
          </a:p>
          <a:p>
            <a:pPr lvl="1">
              <a:lnSpc>
                <a:spcPct val="110000"/>
              </a:lnSpc>
            </a:pPr>
            <a:r>
              <a:rPr lang="es-MX" sz="1500"/>
              <a:t>Alertas preventivas en temporadas de altas temperaturas.</a:t>
            </a:r>
          </a:p>
          <a:p>
            <a:pPr marL="0" indent="0">
              <a:lnSpc>
                <a:spcPct val="110000"/>
              </a:lnSpc>
              <a:buNone/>
            </a:pPr>
            <a:endParaRPr lang="es-MX" sz="1500"/>
          </a:p>
        </p:txBody>
      </p:sp>
    </p:spTree>
    <p:extLst>
      <p:ext uri="{BB962C8B-B14F-4D97-AF65-F5344CB8AC3E}">
        <p14:creationId xmlns:p14="http://schemas.microsoft.com/office/powerpoint/2010/main" val="3482931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F9E4445-568B-1F49-D99C-C0F186764CF8}"/>
              </a:ext>
            </a:extLst>
          </p:cNvPr>
          <p:cNvSpPr txBox="1"/>
          <p:nvPr/>
        </p:nvSpPr>
        <p:spPr>
          <a:xfrm>
            <a:off x="1524000" y="548640"/>
            <a:ext cx="9160475" cy="11322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Alcance y Limitaciones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619CE0B2-632A-5586-D9CF-A3F0D0C110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8242335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1159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987</Words>
  <Application>Microsoft Office PowerPoint</Application>
  <PresentationFormat>Panorámica</PresentationFormat>
  <Paragraphs>95</Paragraphs>
  <Slides>15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Aptos</vt:lpstr>
      <vt:lpstr>Arial</vt:lpstr>
      <vt:lpstr>Neue Haas Grotesk Text Pro</vt:lpstr>
      <vt:lpstr>Symbol</vt:lpstr>
      <vt:lpstr>Times New Roman</vt:lpstr>
      <vt:lpstr>VanillaVTI</vt:lpstr>
      <vt:lpstr>Desarrollo de un sistema inteligente basado en IoT y Redes Neuronales para la Predicción y Simulación de la Calidad del Aire en Culiacán, Sinaloa.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Beltrán</dc:creator>
  <cp:lastModifiedBy>Jorge Beltrán</cp:lastModifiedBy>
  <cp:revision>2</cp:revision>
  <dcterms:created xsi:type="dcterms:W3CDTF">2026-02-26T02:53:39Z</dcterms:created>
  <dcterms:modified xsi:type="dcterms:W3CDTF">2026-02-27T04:38:31Z</dcterms:modified>
</cp:coreProperties>
</file>